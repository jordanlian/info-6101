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68" r:id="rId3"/>
    <p:sldId id="261" r:id="rId4"/>
    <p:sldId id="262" r:id="rId5"/>
    <p:sldId id="263" r:id="rId6"/>
    <p:sldId id="267" r:id="rId7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/>
      <a:tcStyle>
        <a:tcBdr/>
        <a:fill>
          <a:solidFill>
            <a:srgbClr val="E6F0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/>
      <a:tcStyle>
        <a:tcBdr/>
        <a:fill>
          <a:solidFill>
            <a:srgbClr val="EAF8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9D1E1"/>
          </a:solidFill>
        </a:fill>
      </a:tcStyle>
    </a:wholeTbl>
    <a:band2H>
      <a:tcTxStyle/>
      <a:tcStyle>
        <a:tcBdr/>
        <a:fill>
          <a:solidFill>
            <a:srgbClr val="FCE9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948"/>
    <p:restoredTop sz="94694"/>
  </p:normalViewPr>
  <p:slideViewPr>
    <p:cSldViewPr snapToGrid="0" snapToObjects="1">
      <p:cViewPr varScale="1">
        <p:scale>
          <a:sx n="84" d="100"/>
          <a:sy n="84" d="100"/>
        </p:scale>
        <p:origin x="8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6" name="Shape 12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70000" y="50419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13"/>
          </p:nvPr>
        </p:nvSpPr>
        <p:spPr>
          <a:xfrm>
            <a:off x="1625600" y="673100"/>
            <a:ext cx="9753600" cy="5905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70000" y="81534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sz="half" idx="13"/>
          </p:nvPr>
        </p:nvSpPr>
        <p:spPr>
          <a:xfrm>
            <a:off x="6718300" y="635000"/>
            <a:ext cx="5334000" cy="8216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52500" y="4724400"/>
            <a:ext cx="5334000" cy="41148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6718300" y="2590800"/>
            <a:ext cx="533400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28884" y="9296400"/>
            <a:ext cx="340259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13"/>
          </p:nvPr>
        </p:nvSpPr>
        <p:spPr>
          <a:xfrm>
            <a:off x="6718300" y="5092700"/>
            <a:ext cx="533400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6718300" y="889000"/>
            <a:ext cx="533400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sz="half" idx="15"/>
          </p:nvPr>
        </p:nvSpPr>
        <p:spPr>
          <a:xfrm>
            <a:off x="952500" y="889000"/>
            <a:ext cx="5334000" cy="7975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70000" y="6362700"/>
            <a:ext cx="10464800" cy="461366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400" i="1"/>
            </a:lvl1pPr>
            <a:lvl2pPr marL="777875" indent="-333375" algn="ctr">
              <a:spcBef>
                <a:spcPts val="0"/>
              </a:spcBef>
              <a:defRPr sz="2400" i="1"/>
            </a:lvl2pPr>
            <a:lvl3pPr marL="1222375" indent="-333375" algn="ctr">
              <a:spcBef>
                <a:spcPts val="0"/>
              </a:spcBef>
              <a:defRPr sz="2400" i="1"/>
            </a:lvl3pPr>
            <a:lvl4pPr marL="1666875" indent="-333375" algn="ctr">
              <a:spcBef>
                <a:spcPts val="0"/>
              </a:spcBef>
              <a:defRPr sz="2400" i="1"/>
            </a:lvl4pPr>
            <a:lvl5pPr marL="2111375" indent="-333375" algn="ctr">
              <a:spcBef>
                <a:spcPts val="0"/>
              </a:spcBef>
              <a:defRPr sz="2400" i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“Type a quote here.”"/>
          <p:cNvSpPr txBox="1">
            <a:spLocks noGrp="1"/>
          </p:cNvSpPr>
          <p:nvPr>
            <p:ph type="body" sz="quarter" idx="13"/>
          </p:nvPr>
        </p:nvSpPr>
        <p:spPr>
          <a:xfrm>
            <a:off x="1270000" y="4267112"/>
            <a:ext cx="10464800" cy="60978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0" y="0"/>
            <a:ext cx="13004800" cy="9753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8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eg"/><Relationship Id="rId2" Type="http://schemas.openxmlformats.org/officeDocument/2006/relationships/image" Target="../media/image7.ti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jpeg"/><Relationship Id="rId5" Type="http://schemas.openxmlformats.org/officeDocument/2006/relationships/image" Target="../media/image10.gif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Why should you be excited about INFO 6105 ?"/>
          <p:cNvSpPr txBox="1">
            <a:spLocks noGrp="1"/>
          </p:cNvSpPr>
          <p:nvPr>
            <p:ph type="subTitle" sz="quarter" idx="1"/>
          </p:nvPr>
        </p:nvSpPr>
        <p:spPr>
          <a:xfrm>
            <a:off x="8553904" y="6475019"/>
            <a:ext cx="3949069" cy="2628339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 defTabSz="484886">
              <a:spcAft>
                <a:spcPts val="600"/>
              </a:spcAft>
              <a:defRPr sz="3071"/>
            </a:pPr>
            <a:r>
              <a:rPr lang="en-US" sz="3071" dirty="0"/>
              <a:t>INFO 6101 :Data Science Engineering with Python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9584E7D4-A2F5-41A9-A4AE-B84BD1346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8036967" cy="9753600"/>
          </a:xfrm>
          <a:prstGeom prst="rect">
            <a:avLst/>
          </a:prstGeom>
          <a:solidFill>
            <a:srgbClr val="4151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912531D6-F318-49BD-859A-0B2B71594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643" y="684464"/>
            <a:ext cx="3421042" cy="41197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aving a pandas Dataframe as a CSV File | by MRINAL WALIA | Medium">
            <a:extLst>
              <a:ext uri="{FF2B5EF4-FFF2-40B4-BE49-F238E27FC236}">
                <a16:creationId xmlns:a16="http://schemas.microsoft.com/office/drawing/2014/main" id="{86135CE4-820E-D542-97E6-AECB51652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3234" y="1780776"/>
            <a:ext cx="3083418" cy="1927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4" name="Rectangle 193">
            <a:extLst>
              <a:ext uri="{FF2B5EF4-FFF2-40B4-BE49-F238E27FC236}">
                <a16:creationId xmlns:a16="http://schemas.microsoft.com/office/drawing/2014/main" id="{C3A78525-353D-47EB-B839-E380DBD7D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04277" y="684464"/>
            <a:ext cx="3421041" cy="41197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Pytorch Tutorial | Deep Learning With Pytorch">
            <a:extLst>
              <a:ext uri="{FF2B5EF4-FFF2-40B4-BE49-F238E27FC236}">
                <a16:creationId xmlns:a16="http://schemas.microsoft.com/office/drawing/2014/main" id="{0FEDE1D4-2185-4742-BDB0-FC8E1C2E3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75868" y="1667094"/>
            <a:ext cx="3077858" cy="215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5" name="Rectangle 194">
            <a:extLst>
              <a:ext uri="{FF2B5EF4-FFF2-40B4-BE49-F238E27FC236}">
                <a16:creationId xmlns:a16="http://schemas.microsoft.com/office/drawing/2014/main" id="{6436C932-B8B8-4A70-8A0D-1A4AD0A9F2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3156" y="5032260"/>
            <a:ext cx="3432162" cy="4071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scikit-learn - Wikipedia">
            <a:extLst>
              <a:ext uri="{FF2B5EF4-FFF2-40B4-BE49-F238E27FC236}">
                <a16:creationId xmlns:a16="http://schemas.microsoft.com/office/drawing/2014/main" id="{DC1F0570-D92D-1245-B5E8-D0A55539F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64747" y="6222629"/>
            <a:ext cx="3088979" cy="1660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02AD82C0-24F3-4083-849D-D281174AF2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34076" y="6343091"/>
            <a:ext cx="3511296" cy="0"/>
          </a:xfrm>
          <a:prstGeom prst="line">
            <a:avLst/>
          </a:prstGeom>
          <a:ln w="19050">
            <a:solidFill>
              <a:srgbClr val="4151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Rectangle 196">
            <a:extLst>
              <a:ext uri="{FF2B5EF4-FFF2-40B4-BE49-F238E27FC236}">
                <a16:creationId xmlns:a16="http://schemas.microsoft.com/office/drawing/2014/main" id="{BEC760C0-2D8A-4DE5-9990-FA96D59E53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643" y="5032260"/>
            <a:ext cx="3421042" cy="41197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Getting Started with NumPy 🐍 🐍 | Kaggle">
            <a:extLst>
              <a:ext uri="{FF2B5EF4-FFF2-40B4-BE49-F238E27FC236}">
                <a16:creationId xmlns:a16="http://schemas.microsoft.com/office/drawing/2014/main" id="{CCE7B8C3-B2A9-3948-AF0D-F63553723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1335" y="6417430"/>
            <a:ext cx="3105318" cy="1242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9" name="Source: kaggle.com, qure.ai,thenextweb.com,pwc.com"/>
          <p:cNvSpPr txBox="1"/>
          <p:nvPr/>
        </p:nvSpPr>
        <p:spPr>
          <a:xfrm>
            <a:off x="1019098" y="9225537"/>
            <a:ext cx="2797240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spcAft>
                <a:spcPts val="600"/>
              </a:spcAft>
              <a:defRPr sz="1000" b="1"/>
            </a:pPr>
            <a:r>
              <a:rPr dirty="0"/>
              <a:t>Source: </a:t>
            </a:r>
            <a:r>
              <a:rPr lang="en-US" dirty="0" err="1"/>
              <a:t>medium.com</a:t>
            </a:r>
            <a:r>
              <a:rPr dirty="0"/>
              <a:t>, </a:t>
            </a:r>
            <a:r>
              <a:rPr lang="en-US" dirty="0" err="1"/>
              <a:t>numpy</a:t>
            </a:r>
            <a:r>
              <a:rPr dirty="0"/>
              <a:t>, </a:t>
            </a:r>
            <a:r>
              <a:rPr lang="en-US" dirty="0" err="1"/>
              <a:t>scikit</a:t>
            </a:r>
            <a:r>
              <a:rPr lang="en-US" dirty="0"/>
              <a:t>-learn,</a:t>
            </a:r>
            <a:r>
              <a:rPr sz="2400" dirty="0"/>
              <a:t> </a:t>
            </a:r>
          </a:p>
        </p:txBody>
      </p:sp>
      <p:sp>
        <p:nvSpPr>
          <p:cNvPr id="23" name="Why should you be excited about INFO 6105 ?">
            <a:extLst>
              <a:ext uri="{FF2B5EF4-FFF2-40B4-BE49-F238E27FC236}">
                <a16:creationId xmlns:a16="http://schemas.microsoft.com/office/drawing/2014/main" id="{6C2FAD28-0156-BD4B-8127-DE600FC49B66}"/>
              </a:ext>
            </a:extLst>
          </p:cNvPr>
          <p:cNvSpPr txBox="1">
            <a:spLocks/>
          </p:cNvSpPr>
          <p:nvPr/>
        </p:nvSpPr>
        <p:spPr>
          <a:xfrm>
            <a:off x="8544088" y="2744344"/>
            <a:ext cx="3949069" cy="13706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t">
            <a:normAutofit fontScale="92500" lnSpcReduction="10000"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2667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3111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3556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4000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l" defTabSz="484886" hangingPunct="1">
              <a:spcAft>
                <a:spcPts val="600"/>
              </a:spcAft>
              <a:defRPr sz="3071"/>
            </a:pPr>
            <a:r>
              <a:rPr lang="en-US" sz="3071" dirty="0"/>
              <a:t>INFO 6101 is a prequel to INFO 6105 is a prequel to INFO 7390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C71BB1F-ABFD-024C-8418-56E30F868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7160" y="2390140"/>
            <a:ext cx="10464800" cy="1422400"/>
          </a:xfrm>
        </p:spPr>
        <p:txBody>
          <a:bodyPr>
            <a:normAutofit fontScale="90000"/>
          </a:bodyPr>
          <a:lstStyle/>
          <a:p>
            <a:r>
              <a:rPr lang="en-US" dirty="0"/>
              <a:t>INFO 6101 has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TWO TRACKS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AE2467-4E7F-6342-9E05-B0C821922240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1117600" y="4312920"/>
            <a:ext cx="10464800" cy="11303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 want to include </a:t>
            </a:r>
            <a:r>
              <a:rPr lang="en-US" i="1" u="sng" dirty="0"/>
              <a:t>everyone,</a:t>
            </a:r>
            <a:r>
              <a:rPr lang="en-US" i="1" dirty="0"/>
              <a:t> </a:t>
            </a:r>
            <a:r>
              <a:rPr lang="en-US" dirty="0"/>
              <a:t>both beginners &amp;</a:t>
            </a:r>
          </a:p>
          <a:p>
            <a:r>
              <a:rPr lang="en-US" dirty="0"/>
              <a:t>students looking to learn numerical python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C725ADE-D79B-4046-B85B-9B48E671B975}"/>
              </a:ext>
            </a:extLst>
          </p:cNvPr>
          <p:cNvSpPr txBox="1">
            <a:spLocks/>
          </p:cNvSpPr>
          <p:nvPr/>
        </p:nvSpPr>
        <p:spPr>
          <a:xfrm>
            <a:off x="1087120" y="6798310"/>
            <a:ext cx="10464800" cy="11303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t">
            <a:normAutofit lnSpcReduction="10000"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2667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3111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3556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4000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/>
            <a:r>
              <a:rPr lang="en-US" dirty="0">
                <a:solidFill>
                  <a:schemeClr val="bg1"/>
                </a:solidFill>
              </a:rPr>
              <a:t>First 60 mins of each lecture covers Python &amp;</a:t>
            </a:r>
          </a:p>
          <a:p>
            <a:pPr hangingPunct="1"/>
            <a:r>
              <a:rPr lang="en-US" dirty="0">
                <a:solidFill>
                  <a:schemeClr val="bg1"/>
                </a:solidFill>
              </a:rPr>
              <a:t>Programming basics</a:t>
            </a:r>
          </a:p>
          <a:p>
            <a:pPr hangingPunct="1"/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86A0C6E-7316-BF4B-ACCB-6C13AE6BA1A2}"/>
              </a:ext>
            </a:extLst>
          </p:cNvPr>
          <p:cNvSpPr txBox="1">
            <a:spLocks/>
          </p:cNvSpPr>
          <p:nvPr/>
        </p:nvSpPr>
        <p:spPr>
          <a:xfrm>
            <a:off x="1087120" y="8623300"/>
            <a:ext cx="10464800" cy="11303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t">
            <a:normAutofit lnSpcReduction="10000"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2667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3111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3556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4000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/>
            <a:r>
              <a:rPr lang="en-US" dirty="0">
                <a:solidFill>
                  <a:schemeClr val="bg1"/>
                </a:solidFill>
              </a:rPr>
              <a:t>Last 30 mins will cover numerical computation</a:t>
            </a:r>
          </a:p>
          <a:p>
            <a:pPr hangingPunct="1"/>
            <a:r>
              <a:rPr lang="en-US" dirty="0">
                <a:solidFill>
                  <a:schemeClr val="bg1"/>
                </a:solidFill>
              </a:rPr>
              <a:t>using Python</a:t>
            </a:r>
          </a:p>
          <a:p>
            <a:pPr hangingPunct="1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9B361A-D10A-7D43-84BB-296E3FC69A0B}"/>
              </a:ext>
            </a:extLst>
          </p:cNvPr>
          <p:cNvCxnSpPr/>
          <p:nvPr/>
        </p:nvCxnSpPr>
        <p:spPr>
          <a:xfrm>
            <a:off x="304800" y="8260080"/>
            <a:ext cx="1246632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732198770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Course structure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705942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sz="4000"/>
            </a:lvl1pPr>
          </a:lstStyle>
          <a:p>
            <a:r>
              <a:t>Course structure</a:t>
            </a:r>
          </a:p>
        </p:txBody>
      </p:sp>
      <p:sp>
        <p:nvSpPr>
          <p:cNvPr id="192" name="Course has 12 modules, one module per week"/>
          <p:cNvSpPr txBox="1"/>
          <p:nvPr/>
        </p:nvSpPr>
        <p:spPr>
          <a:xfrm>
            <a:off x="1723247" y="1285057"/>
            <a:ext cx="9315502" cy="473759"/>
          </a:xfrm>
          <a:prstGeom prst="rect">
            <a:avLst/>
          </a:prstGeom>
          <a:ln w="12700">
            <a:solidFill>
              <a:srgbClr val="FF26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/>
            </a:lvl1pPr>
          </a:lstStyle>
          <a:p>
            <a:r>
              <a:rPr dirty="0"/>
              <a:t>Course has 12 modules, one module </a:t>
            </a:r>
            <a:r>
              <a:rPr lang="en-US" dirty="0"/>
              <a:t>per week, one week break</a:t>
            </a:r>
            <a:endParaRPr dirty="0"/>
          </a:p>
        </p:txBody>
      </p:sp>
      <p:sp>
        <p:nvSpPr>
          <p:cNvPr id="193" name="Contents of a typical module…"/>
          <p:cNvSpPr txBox="1"/>
          <p:nvPr/>
        </p:nvSpPr>
        <p:spPr>
          <a:xfrm>
            <a:off x="345230" y="4341467"/>
            <a:ext cx="4681628" cy="842059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b="1"/>
            </a:pPr>
            <a:r>
              <a:t>Contents of a typical module</a:t>
            </a:r>
          </a:p>
          <a:p>
            <a:pPr>
              <a:defRPr b="1"/>
            </a:pPr>
            <a:r>
              <a:t>(Python code, math, &amp; intuition)</a:t>
            </a:r>
          </a:p>
        </p:txBody>
      </p:sp>
      <p:sp>
        <p:nvSpPr>
          <p:cNvPr id="194" name="Video lectures (2 — 6)"/>
          <p:cNvSpPr txBox="1"/>
          <p:nvPr/>
        </p:nvSpPr>
        <p:spPr>
          <a:xfrm>
            <a:off x="6846329" y="2733774"/>
            <a:ext cx="4809010" cy="471924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/>
            </a:lvl1pPr>
          </a:lstStyle>
          <a:p>
            <a:r>
              <a:rPr lang="en-US" dirty="0"/>
              <a:t>Videos = humor + new concepts</a:t>
            </a:r>
            <a:endParaRPr dirty="0"/>
          </a:p>
        </p:txBody>
      </p:sp>
      <p:sp>
        <p:nvSpPr>
          <p:cNvPr id="195" name="Jupiter notebooks with Python code"/>
          <p:cNvSpPr txBox="1"/>
          <p:nvPr/>
        </p:nvSpPr>
        <p:spPr>
          <a:xfrm>
            <a:off x="6805062" y="5853317"/>
            <a:ext cx="3675177" cy="473759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/>
            </a:lvl1pPr>
          </a:lstStyle>
          <a:p>
            <a:r>
              <a:t>Email me with questions</a:t>
            </a:r>
          </a:p>
        </p:txBody>
      </p:sp>
      <p:sp>
        <p:nvSpPr>
          <p:cNvPr id="196" name="Data for the notebooks"/>
          <p:cNvSpPr txBox="1"/>
          <p:nvPr/>
        </p:nvSpPr>
        <p:spPr>
          <a:xfrm>
            <a:off x="6840618" y="3512970"/>
            <a:ext cx="3480105" cy="473760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/>
            </a:lvl1pPr>
          </a:lstStyle>
          <a:p>
            <a:r>
              <a:t>Data for the notebooks</a:t>
            </a:r>
          </a:p>
        </p:txBody>
      </p:sp>
      <p:sp>
        <p:nvSpPr>
          <p:cNvPr id="197" name="Slides used in the lectures"/>
          <p:cNvSpPr txBox="1"/>
          <p:nvPr/>
        </p:nvSpPr>
        <p:spPr>
          <a:xfrm>
            <a:off x="6761218" y="4293087"/>
            <a:ext cx="6082183" cy="473759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/>
            </a:lvl1pPr>
          </a:lstStyle>
          <a:p>
            <a:r>
              <a:t>Python code inside of Jupyter notebooks</a:t>
            </a:r>
          </a:p>
        </p:txBody>
      </p:sp>
      <p:sp>
        <p:nvSpPr>
          <p:cNvPr id="198" name="Links to more resources on the web"/>
          <p:cNvSpPr txBox="1"/>
          <p:nvPr/>
        </p:nvSpPr>
        <p:spPr>
          <a:xfrm>
            <a:off x="6809481" y="6696929"/>
            <a:ext cx="5342738" cy="473759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/>
            </a:lvl1pPr>
          </a:lstStyle>
          <a:p>
            <a:r>
              <a:t>Links to more resources on the web</a:t>
            </a:r>
          </a:p>
        </p:txBody>
      </p:sp>
      <p:sp>
        <p:nvSpPr>
          <p:cNvPr id="199" name="Email me with help requests"/>
          <p:cNvSpPr txBox="1"/>
          <p:nvPr/>
        </p:nvSpPr>
        <p:spPr>
          <a:xfrm>
            <a:off x="6803180" y="5073203"/>
            <a:ext cx="3942182" cy="473759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/>
            </a:lvl1pPr>
          </a:lstStyle>
          <a:p>
            <a:r>
              <a:t>Slides used in the lectures</a:t>
            </a:r>
          </a:p>
        </p:txBody>
      </p:sp>
      <p:sp>
        <p:nvSpPr>
          <p:cNvPr id="200" name="Line"/>
          <p:cNvSpPr/>
          <p:nvPr/>
        </p:nvSpPr>
        <p:spPr>
          <a:xfrm flipV="1">
            <a:off x="5039395" y="2963310"/>
            <a:ext cx="1797675" cy="1797675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01" name="Line"/>
          <p:cNvSpPr/>
          <p:nvPr/>
        </p:nvSpPr>
        <p:spPr>
          <a:xfrm flipV="1">
            <a:off x="5049025" y="3717242"/>
            <a:ext cx="1775832" cy="1030596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02" name="Line"/>
          <p:cNvSpPr/>
          <p:nvPr/>
        </p:nvSpPr>
        <p:spPr>
          <a:xfrm flipV="1">
            <a:off x="5007962" y="4528135"/>
            <a:ext cx="1853484" cy="232509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03" name="Line"/>
          <p:cNvSpPr/>
          <p:nvPr/>
        </p:nvSpPr>
        <p:spPr>
          <a:xfrm>
            <a:off x="5053798" y="4746464"/>
            <a:ext cx="1763847" cy="590556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04" name="Line"/>
          <p:cNvSpPr/>
          <p:nvPr/>
        </p:nvSpPr>
        <p:spPr>
          <a:xfrm>
            <a:off x="5049284" y="4747971"/>
            <a:ext cx="1776674" cy="1381465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05" name="Line"/>
          <p:cNvSpPr/>
          <p:nvPr/>
        </p:nvSpPr>
        <p:spPr>
          <a:xfrm>
            <a:off x="5051388" y="4759538"/>
            <a:ext cx="1774572" cy="2195902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06" name="Links to more resources on the web"/>
          <p:cNvSpPr txBox="1"/>
          <p:nvPr/>
        </p:nvSpPr>
        <p:spPr>
          <a:xfrm>
            <a:off x="6840469" y="7414482"/>
            <a:ext cx="5229962" cy="842060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b="1"/>
            </a:pPr>
            <a:r>
              <a:t>Test your understanding questions</a:t>
            </a:r>
          </a:p>
          <a:p>
            <a:pPr>
              <a:defRPr b="1"/>
            </a:pPr>
            <a:r>
              <a:t>(Self-evaluation)</a:t>
            </a:r>
          </a:p>
        </p:txBody>
      </p:sp>
      <p:sp>
        <p:nvSpPr>
          <p:cNvPr id="207" name="Line"/>
          <p:cNvSpPr/>
          <p:nvPr/>
        </p:nvSpPr>
        <p:spPr>
          <a:xfrm>
            <a:off x="5060162" y="4684579"/>
            <a:ext cx="1758222" cy="3175785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08" name="Links to more resources on the web"/>
          <p:cNvSpPr txBox="1"/>
          <p:nvPr/>
        </p:nvSpPr>
        <p:spPr>
          <a:xfrm>
            <a:off x="6730395" y="8733662"/>
            <a:ext cx="5019003" cy="471924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/>
            </a:lvl1pPr>
          </a:lstStyle>
          <a:p>
            <a:r>
              <a:rPr lang="en-US" dirty="0"/>
              <a:t>Forum interactive feedback/slack</a:t>
            </a:r>
            <a:endParaRPr dirty="0"/>
          </a:p>
        </p:txBody>
      </p:sp>
      <p:sp>
        <p:nvSpPr>
          <p:cNvPr id="209" name="Line"/>
          <p:cNvSpPr/>
          <p:nvPr/>
        </p:nvSpPr>
        <p:spPr>
          <a:xfrm>
            <a:off x="5053883" y="4843579"/>
            <a:ext cx="1764523" cy="4185372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Course Grading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705942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sz="4000"/>
            </a:lvl1pPr>
          </a:lstStyle>
          <a:p>
            <a:r>
              <a:t>Course Grading</a:t>
            </a:r>
          </a:p>
        </p:txBody>
      </p:sp>
      <p:sp>
        <p:nvSpPr>
          <p:cNvPr id="213" name="Three assignments…"/>
          <p:cNvSpPr txBox="1"/>
          <p:nvPr/>
        </p:nvSpPr>
        <p:spPr>
          <a:xfrm>
            <a:off x="2307792" y="1865372"/>
            <a:ext cx="2681824" cy="84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b="1"/>
            </a:pPr>
            <a:r>
              <a:rPr lang="en-US" dirty="0"/>
              <a:t>Two</a:t>
            </a:r>
            <a:r>
              <a:rPr dirty="0"/>
              <a:t> assignment</a:t>
            </a:r>
            <a:r>
              <a:rPr lang="en-US" dirty="0"/>
              <a:t>s</a:t>
            </a:r>
            <a:endParaRPr dirty="0"/>
          </a:p>
          <a:p>
            <a:pPr>
              <a:defRPr b="1"/>
            </a:pPr>
            <a:r>
              <a:rPr dirty="0"/>
              <a:t>(</a:t>
            </a:r>
            <a:r>
              <a:rPr lang="en-US" dirty="0"/>
              <a:t>4</a:t>
            </a:r>
            <a:r>
              <a:rPr dirty="0"/>
              <a:t>0%)</a:t>
            </a:r>
          </a:p>
        </p:txBody>
      </p:sp>
      <p:sp>
        <p:nvSpPr>
          <p:cNvPr id="214" name="One final project…"/>
          <p:cNvSpPr txBox="1"/>
          <p:nvPr/>
        </p:nvSpPr>
        <p:spPr>
          <a:xfrm>
            <a:off x="2447829" y="3475729"/>
            <a:ext cx="2534347" cy="84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b="1"/>
            </a:pPr>
            <a:r>
              <a:rPr dirty="0"/>
              <a:t>One final project</a:t>
            </a:r>
          </a:p>
          <a:p>
            <a:pPr>
              <a:defRPr b="1"/>
            </a:pPr>
            <a:r>
              <a:rPr dirty="0"/>
              <a:t>(</a:t>
            </a:r>
            <a:r>
              <a:rPr lang="en-US" dirty="0"/>
              <a:t>6</a:t>
            </a:r>
            <a:r>
              <a:rPr dirty="0"/>
              <a:t>0%)</a:t>
            </a:r>
          </a:p>
        </p:txBody>
      </p:sp>
      <p:sp>
        <p:nvSpPr>
          <p:cNvPr id="215" name="Final grade ="/>
          <p:cNvSpPr txBox="1"/>
          <p:nvPr/>
        </p:nvSpPr>
        <p:spPr>
          <a:xfrm>
            <a:off x="294741" y="2925420"/>
            <a:ext cx="2014017" cy="473759"/>
          </a:xfrm>
          <a:prstGeom prst="rect">
            <a:avLst/>
          </a:prstGeom>
          <a:ln w="12700">
            <a:solidFill>
              <a:srgbClr val="FF2600"/>
            </a:solidFill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/>
            </a:lvl1pPr>
          </a:lstStyle>
          <a:p>
            <a:r>
              <a:t>Final grade =</a:t>
            </a:r>
          </a:p>
        </p:txBody>
      </p:sp>
      <p:sp>
        <p:nvSpPr>
          <p:cNvPr id="216" name="+"/>
          <p:cNvSpPr txBox="1"/>
          <p:nvPr/>
        </p:nvSpPr>
        <p:spPr>
          <a:xfrm>
            <a:off x="3566414" y="2746350"/>
            <a:ext cx="297181" cy="46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/>
            </a:lvl1pPr>
          </a:lstStyle>
          <a:p>
            <a:r>
              <a:rPr dirty="0"/>
              <a:t>+</a:t>
            </a:r>
          </a:p>
        </p:txBody>
      </p:sp>
      <p:sp>
        <p:nvSpPr>
          <p:cNvPr id="217" name="Descriptive/Objective questions…"/>
          <p:cNvSpPr txBox="1"/>
          <p:nvPr/>
        </p:nvSpPr>
        <p:spPr>
          <a:xfrm>
            <a:off x="6447511" y="1583659"/>
            <a:ext cx="6586740" cy="1579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476250" indent="-476250" algn="l">
              <a:buSzPct val="100000"/>
              <a:buAutoNum type="arabicPeriod"/>
            </a:pPr>
            <a:r>
              <a:rPr dirty="0"/>
              <a:t>Descriptive/Objective questions </a:t>
            </a:r>
          </a:p>
          <a:p>
            <a:pPr marL="476250" indent="-476250" algn="l">
              <a:buSzPct val="100000"/>
              <a:buAutoNum type="arabicPeriod"/>
            </a:pPr>
            <a:r>
              <a:rPr dirty="0"/>
              <a:t>Coding questions</a:t>
            </a:r>
          </a:p>
          <a:p>
            <a:pPr marL="476250" indent="-476250" algn="l">
              <a:buSzPct val="100000"/>
              <a:buAutoNum type="arabicPeriod"/>
            </a:pPr>
            <a:r>
              <a:rPr lang="en-US" dirty="0"/>
              <a:t>Sent 4</a:t>
            </a:r>
            <a:r>
              <a:rPr lang="en-US" baseline="30000" dirty="0"/>
              <a:t>rd</a:t>
            </a:r>
            <a:r>
              <a:rPr lang="en-US" dirty="0"/>
              <a:t> and 8</a:t>
            </a:r>
            <a:r>
              <a:rPr lang="en-US" baseline="30000" dirty="0"/>
              <a:t>th</a:t>
            </a:r>
            <a:r>
              <a:rPr lang="en-US" dirty="0"/>
              <a:t> week, deadline 2 weeks</a:t>
            </a:r>
          </a:p>
          <a:p>
            <a:pPr marL="476250" indent="-476250" algn="l">
              <a:buSzPct val="100000"/>
              <a:buAutoNum type="arabicPeriod"/>
            </a:pPr>
            <a:r>
              <a:rPr lang="en-US" dirty="0"/>
              <a:t>Assignments are different for the two tracks</a:t>
            </a:r>
          </a:p>
        </p:txBody>
      </p:sp>
      <p:sp>
        <p:nvSpPr>
          <p:cNvPr id="218" name="One final project beginning at week 4…"/>
          <p:cNvSpPr txBox="1"/>
          <p:nvPr/>
        </p:nvSpPr>
        <p:spPr>
          <a:xfrm>
            <a:off x="6447511" y="3406195"/>
            <a:ext cx="6450334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228600" indent="-228600" algn="l" defTabSz="457200">
              <a:buSzPct val="100000"/>
              <a:buAutoNum type="arabicPeriod"/>
            </a:pPr>
            <a:r>
              <a:rPr dirty="0"/>
              <a:t>One final project beginning at week </a:t>
            </a:r>
            <a:r>
              <a:rPr lang="en-US" dirty="0"/>
              <a:t>1</a:t>
            </a:r>
          </a:p>
          <a:p>
            <a:pPr marL="228600" indent="-228600" algn="l" defTabSz="457200">
              <a:buSzPct val="100000"/>
              <a:buAutoNum type="arabicPeriod"/>
            </a:pPr>
            <a:r>
              <a:rPr lang="en-US" dirty="0"/>
              <a:t>Writing a whole machine learning algorithm from scratch</a:t>
            </a:r>
            <a:endParaRPr dirty="0"/>
          </a:p>
        </p:txBody>
      </p:sp>
      <p:sp>
        <p:nvSpPr>
          <p:cNvPr id="219" name="Line"/>
          <p:cNvSpPr/>
          <p:nvPr/>
        </p:nvSpPr>
        <p:spPr>
          <a:xfrm flipV="1">
            <a:off x="5170086" y="2402578"/>
            <a:ext cx="1210394" cy="5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20" name="Line"/>
          <p:cNvSpPr/>
          <p:nvPr/>
        </p:nvSpPr>
        <p:spPr>
          <a:xfrm flipV="1">
            <a:off x="5292006" y="3987539"/>
            <a:ext cx="1155505" cy="4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pic>
        <p:nvPicPr>
          <p:cNvPr id="2050" name="Picture 2" descr="Happy people are holding review stars over their heads. Five stars rating. Customer review rating and client feedback concept. Modern vector illustration.">
            <a:extLst>
              <a:ext uri="{FF2B5EF4-FFF2-40B4-BE49-F238E27FC236}">
                <a16:creationId xmlns:a16="http://schemas.microsoft.com/office/drawing/2014/main" id="{17657377-BFA1-8D41-BC41-06A5276051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487" y="6525139"/>
            <a:ext cx="5577114" cy="2974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appy student showing  very good grade">
            <a:extLst>
              <a:ext uri="{FF2B5EF4-FFF2-40B4-BE49-F238E27FC236}">
                <a16:creationId xmlns:a16="http://schemas.microsoft.com/office/drawing/2014/main" id="{4261045F-18A1-6840-B4D1-9B182B625F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320" y="6503472"/>
            <a:ext cx="4643040" cy="3250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3123A1-6105-9C4D-B594-3A671BE5CC2E}"/>
              </a:ext>
            </a:extLst>
          </p:cNvPr>
          <p:cNvSpPr txBox="1"/>
          <p:nvPr/>
        </p:nvSpPr>
        <p:spPr>
          <a:xfrm>
            <a:off x="666667" y="5248936"/>
            <a:ext cx="11671465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FF0000"/>
                </a:solidFill>
              </a:rPr>
              <a:t>Individual OR group projects are OK ! </a:t>
            </a:r>
            <a:r>
              <a:rPr lang="en-US" u="sng" dirty="0">
                <a:solidFill>
                  <a:srgbClr val="FF0000"/>
                </a:solidFill>
              </a:rPr>
              <a:t>You can form groups yourself or we can help !</a:t>
            </a:r>
            <a:endParaRPr kumimoji="0" lang="en-US" sz="2400" b="0" i="0" u="sng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books for the course"/>
          <p:cNvSpPr txBox="1">
            <a:spLocks noGrp="1"/>
          </p:cNvSpPr>
          <p:nvPr>
            <p:ph type="title"/>
          </p:nvPr>
        </p:nvSpPr>
        <p:spPr>
          <a:xfrm>
            <a:off x="952500" y="-113106"/>
            <a:ext cx="11099800" cy="1128408"/>
          </a:xfrm>
          <a:prstGeom prst="rect">
            <a:avLst/>
          </a:prstGeom>
        </p:spPr>
        <p:txBody>
          <a:bodyPr/>
          <a:lstStyle>
            <a:lvl1pPr defTabSz="549148">
              <a:defRPr sz="4000"/>
            </a:lvl1pPr>
          </a:lstStyle>
          <a:p>
            <a:r>
              <a:t>Textbooks for the course</a:t>
            </a:r>
          </a:p>
        </p:txBody>
      </p:sp>
      <p:pic>
        <p:nvPicPr>
          <p:cNvPr id="22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9971" y="685800"/>
            <a:ext cx="3075580" cy="2101646"/>
          </a:xfrm>
          <a:prstGeom prst="rect">
            <a:avLst/>
          </a:prstGeom>
          <a:ln w="12700">
            <a:miter lim="400000"/>
          </a:ln>
        </p:spPr>
      </p:pic>
      <p:sp>
        <p:nvSpPr>
          <p:cNvPr id="227" name="Source:  University of Wisconsin"/>
          <p:cNvSpPr txBox="1"/>
          <p:nvPr/>
        </p:nvSpPr>
        <p:spPr>
          <a:xfrm>
            <a:off x="10095710" y="2764383"/>
            <a:ext cx="2312975" cy="275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200"/>
            </a:lvl1pPr>
          </a:lstStyle>
          <a:p>
            <a:r>
              <a:t>Source:  University of Wisconsin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2C2BF79-5F28-EB41-A69B-BE3A504130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487" y="4968868"/>
            <a:ext cx="3649749" cy="4784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3B651C9F-8408-6D49-8F51-D6A6B41CC0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2248" y="1219662"/>
            <a:ext cx="3351222" cy="4127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Guide to NumPy - Free Computer, Programming, Mathematics ...">
            <a:extLst>
              <a:ext uri="{FF2B5EF4-FFF2-40B4-BE49-F238E27FC236}">
                <a16:creationId xmlns:a16="http://schemas.microsoft.com/office/drawing/2014/main" id="{6B64D90B-C564-5648-BDAE-833F7AB061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0099" y="3586352"/>
            <a:ext cx="3351222" cy="4408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0360CBC-57D0-FC4F-B5FC-DDCA4E1740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126" y="1130404"/>
            <a:ext cx="2714349" cy="3583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53488E0-00E3-7145-8520-6B4FA6829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2248" y="5947011"/>
            <a:ext cx="2634904" cy="347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Thank you poster with spectrum brush strokes on white background. Colorful gradient brush design. Vector paper illustration. &#13;">
            <a:extLst>
              <a:ext uri="{FF2B5EF4-FFF2-40B4-BE49-F238E27FC236}">
                <a16:creationId xmlns:a16="http://schemas.microsoft.com/office/drawing/2014/main" id="{93670304-9001-4A4F-878B-95EDED3CEB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4280" y="1071880"/>
            <a:ext cx="7620000" cy="279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82F66B-7C1D-5D42-B337-67732820C339}"/>
              </a:ext>
            </a:extLst>
          </p:cNvPr>
          <p:cNvSpPr txBox="1"/>
          <p:nvPr/>
        </p:nvSpPr>
        <p:spPr>
          <a:xfrm>
            <a:off x="2219828" y="5651759"/>
            <a:ext cx="8168903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It’s time to discuss…welcome explorers and adventurers…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239</Words>
  <Application>Microsoft Macintosh PowerPoint</Application>
  <PresentationFormat>Custom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Helvetica Light</vt:lpstr>
      <vt:lpstr>Helvetica Neue</vt:lpstr>
      <vt:lpstr>Helvetica Neue Light</vt:lpstr>
      <vt:lpstr>Helvetica Neue Medium</vt:lpstr>
      <vt:lpstr>Helvetica Neue Thin</vt:lpstr>
      <vt:lpstr>White</vt:lpstr>
      <vt:lpstr>PowerPoint Presentation</vt:lpstr>
      <vt:lpstr>INFO 6101 has TWO TRACKS</vt:lpstr>
      <vt:lpstr>Course structure</vt:lpstr>
      <vt:lpstr>Course Grading</vt:lpstr>
      <vt:lpstr>Textbooks for the course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Hariharan, Ram</dc:creator>
  <cp:lastModifiedBy>Hariharan, Ram</cp:lastModifiedBy>
  <cp:revision>14</cp:revision>
  <dcterms:created xsi:type="dcterms:W3CDTF">2020-08-18T21:43:53Z</dcterms:created>
  <dcterms:modified xsi:type="dcterms:W3CDTF">2021-01-22T22:59:14Z</dcterms:modified>
</cp:coreProperties>
</file>